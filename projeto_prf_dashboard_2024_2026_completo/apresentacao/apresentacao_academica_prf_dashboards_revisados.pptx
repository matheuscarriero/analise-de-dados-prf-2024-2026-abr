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0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7" r:id="rId32"/>
    <p:sldId id="308" r:id="rId33"/>
    <p:sldId id="286" r:id="rId34"/>
    <p:sldId id="28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406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banca verá primeiro o rigor metodológico e, em seguida, a interpretação dos resultados. A agenda deixa claro que os gráficos são consequência do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o objetivo não é provar causalidade, mas construir uma leitura descritiva robusta e metodologicamente coerente.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Informar que os dados vêm de fonte oficial, mas que isso não elimina a necessidade de tratamento. Destacar a atenção metodológica ao arquivo de 2026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riqueza da base vem da combinação entre variáveis de contexto e variáveis de severidade. Essa estrutura justifica análises multivariadas e não apenas contagens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base tratada continua no nível da ocorrência. O tratamento não agregou ou perdeu granularidade; ele tornou os registros analiticamente utilizáveis.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Conduzir a banca pelo pipeline. Frisar que cada etapa reduz um tipo de incerteza: estrutura, qualidade, interpretação e comunicação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não foi uma junção por chave entre tabelas diferentes, mas uma união vertical de registros equivalentes em anos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Defender a limpeza como etapa de validade interna. Evitar linguagem de “melhorar números”; a ideia é padronizar e reduzir inconsistências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as variáveis derivadas são a ponte entre dado bruto e análise substantiva: elas permitem medir risco, gravidade e contexto temporal/geográfico.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prepara a banca para ler os gráficos corretamente. Reforçar a diferença entre contagem e taxa, especialmente para estados e rodovias.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entrar em sintaxe. Mostrar que Dash organiza a interação entre filtros e gráficos através de callbacks, tornando a análise exploratória.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um mesmo conjunto de dados pode atender perguntas diferentes. A visão executiva responde “o que está acontecendo”; a exploratória responde “onde e sob quais condições”.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Conduzir a leitura mês a mês, mostrando que o gráfico de linha é útil para tendência e sazonalidade. Reforçar que 2026 tem apenas quatro meses disponíveis.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que o gráfico é necessário, mas insuficiente sozinho. Mostrar maturidade metodológica ao reconhecer o viés de ano incompleto.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é uma decisão central do trabalho: para avaliar tendência em 2026, o intervalo comparado deve ser equivalente.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 transição entre quantidade e risco. Explicar que grandes volumes podem refletir exposição, extensão viária e intensidade de tráfego.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Chamar atenção para a diferença entre regiões com muitos acidentes e regiões com acidentes proporcionalmente mais letais.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leitura é mais próxima de “risco de morte por acidente” do que do tamanho do problema em números absolutos.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este gráfico como síntese geográfica avançada. Explicar que políticas distintas podem ser necessárias para volume e para letalidade.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dizer que comportamento é a única causa. Apresentar como componente importante dentro de um sistema viário complexo.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o gráfico a hipóteses plausíveis: visibilidade, cansaço, menor fluxo e velocidade. Não afirmar causalidade 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finais de semana costumam combinar viagens interurbanas, maior distância e possíveis comportamentos de risco. Tratar como hipótese interpretativa.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de interação entre clima, infraestrutura e conduta. Mostrar que o gráfico ajuda a identificar contextos que merecem cuidado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Orientar a leitura pelo gradiente de cor. Mostrar que heatmap é útil para planejar fiscalização, alertas e alocação operacional por janela horária.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rodovias com alto volume podem refletir maior exposição viária. Preparar o próximo slide: alto volume não significa maior letalidade proporcional.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o corte de 300 acidentes como controle estatístico simples para estabilidade da taxa. Mostrar maturidade metodológica.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leitura das barras empilhadas. A composição da gravidade é tão importante quanto o total de acidentes por causa.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os 15 gráficos em uma mensagem única. Enfatizar que cada eixo analítico revelou um tipo diferente de risco e que o valor do dashboard está na leitura integrada.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demonstra maturidade científica. A banca normalmente valoriza quando o grupo reconhece limites sem desqualificar 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reforçando a contribuição acadêmica e aplicada. A apresentação deve terminar com segurança: o grupo desenvolveu técnica, método e interpretação.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alguns segundos para a banca olhar o fechamento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5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3" y="1241524"/>
            <a:ext cx="6297017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Interativo de Análise de Dados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5233493" y="2706291"/>
            <a:ext cx="6297017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do integrantes do grupo: </a:t>
            </a:r>
          </a:p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Enrico Gazal Regazzini 24003225</a:t>
            </a:r>
            <a:endParaRPr lang="en-US" sz="1467" dirty="0"/>
          </a:p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Mateus Carrieiro 24012791</a:t>
            </a:r>
            <a:endParaRPr lang="en-US" sz="1467" dirty="0"/>
          </a:p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Leandro Martins Reali Ribeiro 24008454</a:t>
            </a:r>
            <a:endParaRPr lang="en-US" sz="1467" dirty="0"/>
          </a:p>
          <a:p>
            <a:pPr>
              <a:lnSpc>
                <a:spcPct val="133000"/>
              </a:lnSpc>
              <a:spcAft>
                <a:spcPts val="1667"/>
              </a:spcAft>
            </a:pP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Alexandre Souza Concetti 24011346</a:t>
            </a:r>
            <a:endParaRPr lang="en-US" sz="1467" dirty="0"/>
          </a:p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da disciplina — aplicação integrada de Python, Pandas e Dash para transformar dados brutos em </a:t>
            </a:r>
            <a:r>
              <a:rPr lang="en-US" sz="1467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acionáveis</a:t>
            </a:r>
            <a:r>
              <a:rPr lang="en-US" sz="14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visualizações interativas.</a:t>
            </a:r>
            <a:endParaRPr lang="en-US" sz="1467" dirty="0"/>
          </a:p>
        </p:txBody>
      </p:sp>
      <p:sp>
        <p:nvSpPr>
          <p:cNvPr id="5" name="Shape 2"/>
          <p:cNvSpPr/>
          <p:nvPr/>
        </p:nvSpPr>
        <p:spPr>
          <a:xfrm>
            <a:off x="5233493" y="5254824"/>
            <a:ext cx="868164" cy="355203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3"/>
          <p:cNvSpPr/>
          <p:nvPr/>
        </p:nvSpPr>
        <p:spPr>
          <a:xfrm>
            <a:off x="5346899" y="5311478"/>
            <a:ext cx="125095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133" dirty="0"/>
          </a:p>
        </p:txBody>
      </p:sp>
      <p:sp>
        <p:nvSpPr>
          <p:cNvPr id="7" name="Shape 4"/>
          <p:cNvSpPr/>
          <p:nvPr/>
        </p:nvSpPr>
        <p:spPr>
          <a:xfrm>
            <a:off x="6196112" y="5248474"/>
            <a:ext cx="656928" cy="367903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5"/>
          <p:cNvSpPr/>
          <p:nvPr/>
        </p:nvSpPr>
        <p:spPr>
          <a:xfrm>
            <a:off x="6315870" y="5311478"/>
            <a:ext cx="102701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33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</a:t>
            </a:r>
            <a:endParaRPr lang="en-US" sz="1133" dirty="0"/>
          </a:p>
        </p:txBody>
      </p:sp>
      <p:sp>
        <p:nvSpPr>
          <p:cNvPr id="9" name="Shape 6"/>
          <p:cNvSpPr/>
          <p:nvPr/>
        </p:nvSpPr>
        <p:spPr>
          <a:xfrm>
            <a:off x="6947495" y="5248474"/>
            <a:ext cx="1664989" cy="367903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7"/>
          <p:cNvSpPr/>
          <p:nvPr/>
        </p:nvSpPr>
        <p:spPr>
          <a:xfrm>
            <a:off x="7067253" y="5311478"/>
            <a:ext cx="203507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33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CIÊNCIA DE DADOS</a:t>
            </a:r>
            <a:endParaRPr lang="en-US" sz="1133" dirty="0"/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4C4DA5B1-0D4C-50BE-D171-2B0A54C71BE8}"/>
              </a:ext>
            </a:extLst>
          </p:cNvPr>
          <p:cNvSpPr/>
          <p:nvPr/>
        </p:nvSpPr>
        <p:spPr>
          <a:xfrm>
            <a:off x="10635343" y="6477002"/>
            <a:ext cx="1458685" cy="29391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da apresentação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narrativa segue a lógica de um projeto completo de Ciência de Dados: da base bruta até os insights derivados dos dashboards.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 e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fonte oficial, escopo e relevância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Pipeline científico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108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integração, limpeza e variáveis derivadas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566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Dashboards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8862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arquitetura Plotly/Dash e visões interativas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411480" cy="4114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43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Resultados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6634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15 gráficos interpretados por eixo analítico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41148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120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Síntese crítica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4406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limitações, achados e contribuições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182880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833104" y="19659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169.160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833104" y="2359152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registros analisados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0" y="283464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8833104" y="29718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7316"/>
                </a:solidFill>
              </a:rPr>
              <a:t>15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833104" y="3364992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gráficos principais do notebook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0" y="384048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833104" y="397764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A34A"/>
                </a:solidFill>
              </a:rPr>
              <a:t>2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8833104" y="4370832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dashboards interativos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pesquisa e justificativa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Como transformar microdados brutos de acidentes rodoviários em evidências confiáveis sobre volume, risco e letalidade?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2834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57607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Acidentes em rodovias federais possuem impacto direto em vidas, logística, saúde pública e custos sociais.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exige separar frequência absoluta de risco proporcional, pois estados e BRs têm exposições diferentes.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dashboard foi concebido como instrumento exploratório para apoiar leitura crítica dos padrões temporais, geográficos e causais.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265176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0664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Tese analítica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337560"/>
            <a:ext cx="3429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segurança viária deve ser examinada por múltiplas dimensões: tempo, território, fatores humanos, clima, rodovia e severidade.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dados escolhida e recorte temporal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321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PRF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32104" y="1947672"/>
            <a:ext cx="2176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fonte oficial dos microdados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7316"/>
                </a:solidFill>
              </a:rPr>
              <a:t>2024–2026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75304" y="1947672"/>
            <a:ext cx="2176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recorte temporal analisado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185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C2626"/>
                </a:solidFill>
              </a:rPr>
              <a:t>30/04/2026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318504" y="1947672"/>
            <a:ext cx="2176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limite do arquivo parcial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0617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A34A"/>
                </a:solidFill>
              </a:rPr>
              <a:t>3 CSVs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061704" y="1947672"/>
            <a:ext cx="2176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arquivos brutos anuais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2834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Arquivos utilizados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38404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datatran2024.csv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datatran2025.csv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datatran2026.csv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834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Justificativa científica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77840" y="3246120"/>
            <a:ext cx="53035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pública, nacional e granular por ocorrência.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Permite cruzar variáveis temporais, geográficas, causais e de vítimas.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natureza parcial de 2026 impõe controle metodológico nas comparações.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Caracterização dos dados originais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321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169.160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32104" y="1947672"/>
            <a:ext cx="2176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registros após integração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7316"/>
                </a:solidFill>
              </a:rPr>
              <a:t>30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75304" y="1947672"/>
            <a:ext cx="2176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colunas originais informadas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185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A34A"/>
                </a:solidFill>
              </a:rPr>
              <a:t>42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318504" y="1947672"/>
            <a:ext cx="2176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colunas analíticas planejadas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0617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7C3AED"/>
                </a:solidFill>
              </a:rPr>
              <a:t>5 eixos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061704" y="1947672"/>
            <a:ext cx="2176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tempo, território, clima, causa e vítimas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2743200"/>
            <a:ext cx="10469880" cy="438912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87552" y="284378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Temporais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54680" y="2843784"/>
            <a:ext cx="7543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data, horário, mês, dia da semana, fase do dia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3310128"/>
            <a:ext cx="104698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87552" y="34107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Geográficas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154680" y="3410712"/>
            <a:ext cx="7543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UF, região, município, BR, km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3877056"/>
            <a:ext cx="10469880" cy="438912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87552" y="397764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Ambientais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54680" y="3977640"/>
            <a:ext cx="7543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condição meteorológica, pista, traçado e uso do solo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4443984"/>
            <a:ext cx="104698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87552" y="454456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Causais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154680" y="4544568"/>
            <a:ext cx="7543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causa principal, tipo de acidente, sentido da via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5010912"/>
            <a:ext cx="10469880" cy="438912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87552" y="511149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Severidade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154680" y="5111496"/>
            <a:ext cx="7543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mortos, feridos, ilesos, veículos e classificação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Amostra da base tratada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registros após padronização, integração anual e criação de variáveis analíticas de apoio.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835640" cy="2606040"/>
          </a:xfrm>
          <a:prstGeom prst="roundRect">
            <a:avLst>
              <a:gd name="adj" fmla="val 1754"/>
            </a:avLst>
          </a:prstGeom>
          <a:solidFill>
            <a:srgbClr val="0B1220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50392" y="1847088"/>
            <a:ext cx="10506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</a:rPr>
              <a:t>Amostra compacta do CSV tratado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121408"/>
            <a:ext cx="10506456" cy="2112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data        uf  br       mortos feridos  gravidade             região     causa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571789    2024-01-01 ES  BR-101     0      1     Com feridos graves   Sudeste    Ultrapassagem Indevida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571804    2024-01-01 PI  BR-343     1      0     Fatal                Nordeste   Manobra de mudança de faixa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571806    2024-01-01 BA  BR-116     1      0     Fatal                Nordeste   Ingestão de álcool pelo condutor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571818    2024-01-01 SE  BR-101     0      1     Com feridos graves   Nordeste   Reação tardia ou ineficiente do condut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571838    2024-01-01 MT  BR-364     0      0     Sem vítimas          Centro-Oeste Condutor deixou de manter distância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571855    2024-01-01 MG  BR-251     0      1     Com feridos leves    Sudeste    Velocidade Incompatível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105156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base tratada preserva o identificador original da PRF, garantindo rastreabilidade.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Campos categóricos foram padronizados para reduzir ruído semântico.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Variáveis derivadas, como gravidade e região, tornam a análise comparável entre recortes.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metodológico geral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103327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fluxo foi organizado para garantir rastreabilidade, comparabilidade temporal e consistência nas análises de severidade.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86968" y="2221992"/>
            <a:ext cx="1380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Coleta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CSV anual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88920" y="2057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898648" y="2221992"/>
            <a:ext cx="1380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Integração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vertical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2057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10328" y="2221992"/>
            <a:ext cx="1380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Limpeza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e validação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12280" y="2057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922008" y="2221992"/>
            <a:ext cx="1380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Feature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engineering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23960" y="2057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33688" y="2221992"/>
            <a:ext cx="1380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EDA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15 gráficos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3375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10328" y="3502152"/>
            <a:ext cx="1380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Dashboards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interativos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44074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</a:rPr>
              <a:t>Fluxo sequencial: dados brutos → base integrada → base tratada → variáveis analíticas → visualizações → interação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9875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parte de dados brutos e chega a visualizações interpretáveis.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construção dos indicadores ocorre após a limpeza e antes da visualização.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dashboard é a camada de comunicação, não a origem da análise.</a:t>
            </a:r>
            <a:endParaRPr lang="en-US" sz="148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Integração vertical dos arquivos anuais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48920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bases de 2024, 2025 e 2026 possuem esquema compatível para concatenação vertical.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variável ano_arquivo preserva a origem do registro e apoia auditoria temporal.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uso de ignore_index=True recria o índice da base integrada sem alterar o identificador PRF.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5989320" y="1325880"/>
            <a:ext cx="5394960" cy="2331720"/>
          </a:xfrm>
          <a:prstGeom prst="roundRect">
            <a:avLst>
              <a:gd name="adj" fmla="val 1961"/>
            </a:avLst>
          </a:prstGeom>
          <a:solidFill>
            <a:srgbClr val="0B1220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53912" y="1435608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</a:rPr>
              <a:t>Integração no pipeline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53912" y="1709928"/>
            <a:ext cx="5065776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ano in anos: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RAW_DIR / f"datatran{ano}.csv"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pd.read_csv(path, sep=';', encoding='latin1')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base['ano_arquivo'] = ano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frames.append(base)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pd.concat(frames, ignore_index=True)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Decisão metodológica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434840"/>
            <a:ext cx="9966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integração por concatenação é adequada porque os arquivos representam o mesmo fenômeno, com a mesma unidade observacional: uma ocorrência registrada pela PRF.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Preparação e tratamento dos dados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563EB"/>
                </a:solidFill>
              </a:rPr>
              <a:t>Valores ausentes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34155"/>
                </a:solidFill>
              </a:rPr>
              <a:t>preenchimento controlado como “Não informado” em campos categóricos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97316"/>
                </a:solidFill>
              </a:rPr>
              <a:t>Tipos numéricos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34155"/>
                </a:solidFill>
              </a:rPr>
              <a:t>conversão de campos com vírgula decimal e coerção de erros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563EB"/>
                </a:solidFill>
              </a:rPr>
              <a:t>Datas e horários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2743200" y="233172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34155"/>
                </a:solidFill>
              </a:rPr>
              <a:t>extração de ano, mês e hora a partir de campos originais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97316"/>
                </a:solidFill>
              </a:rPr>
              <a:t>Duplicidades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34155"/>
                </a:solidFill>
              </a:rPr>
              <a:t>remoção pelo identificador único da ocorrência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563EB"/>
                </a:solidFill>
              </a:rPr>
              <a:t>Textos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2743200" y="33375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34155"/>
                </a:solidFill>
              </a:rPr>
              <a:t>padronização de espaços, capitalização e categorias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903720" y="1234440"/>
            <a:ext cx="4389120" cy="274320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068312" y="13441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</a:rPr>
              <a:t>Limpeza e consistência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68312" y="1618488"/>
            <a:ext cx="4059936" cy="2249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text_cols = ['uf','municipio','causa_acidente', ...]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text_cols: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df[col].fillna('Não informado')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df[col].astype(str).str.strip()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df['data_inversa'] = pd.to_datetime(df['data_inversa'])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df['hora'] = pd.to_datetime(df['horario']).dt.hour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df.drop_duplicates(subset=['id'], keep='first')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98755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Tratamento não significa alterar a realidade do registro, mas reduzir ruído técnico para tornar comparações e agregações confiáveis.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Engenharia de variáveis analíticas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30 colunas originais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86200" y="1417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42 colunas analíticas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0" y="1417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</a:rPr>
              <a:t>12 novas variáveis de apoio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475488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425196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letalidade_ocorrencia
2. taxa_gravidade
3. acidente_fatal
4. total_vitimas
5. gravidade
6. regiao
7. br_label
8. periodo_hora
9. fim_de_semana
10. ano
11. mes
12. mes_nome
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224028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0B1220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53912" y="235000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</a:rPr>
              <a:t>Variáveis derivadas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53912" y="2624328"/>
            <a:ext cx="5020056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df['acidente_fatal'] = df['mortos'] &gt;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df['total_vitimas'] = df['mortos'] + df['feridos_leves'] + df['feridos_graves']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df['taxa_gravidade'] = ((df['mortos']*3 + df['feridos_graves']*2 + df['feridos_leves']) / denom).fillna(0).round(3)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df['regiao'] = df['uf'].map(REGIAO_UF).fillna('Não informado')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analíticas e cautelas estatísticas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32104" y="1463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C2626"/>
                </a:solidFill>
              </a:rPr>
              <a:t>8,35%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32104" y="1856232"/>
            <a:ext cx="245059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taxa geral de letalidade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3258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803904" y="1463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C2626"/>
                </a:solidFill>
              </a:rPr>
              <a:t>14.121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803904" y="1856232"/>
            <a:ext cx="245059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óbitos registrados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13258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775704" y="1463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7316"/>
                </a:solidFill>
              </a:rPr>
              <a:t>195.633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75704" y="1856232"/>
            <a:ext cx="245059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feridos registrados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0" y="13258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747504" y="14630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1.000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747504" y="1856232"/>
            <a:ext cx="153619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base para taxas proporcionais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880360"/>
            <a:ext cx="102412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Volume absoluto mede escala do problema, mas não mede risco proporcional.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Mortos a cada 1.000 acidentes permite comparar UFs e BRs com volumes diferentes.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Comparações com 2026 exigem recortes equivalentes, pois o ano está parcial.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é descritiva/exploratória: identifica padrões, não causalidade definitiva.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técnica dos dashboards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889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Dados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15636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CSV bruto + CSV tratado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30552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05840" y="22768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Processamento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22768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Pandas + NumPy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843784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889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05840" y="29900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Visualização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29900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Plotly Express + Graph Objects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557016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Aplicação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88920" y="3703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Dash + Bootstrap Components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270248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889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05840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Interação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88920" y="4416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Filtros, KPIs e callbacks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417320"/>
            <a:ext cx="5212080" cy="320040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245352" y="152704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</a:rPr>
              <a:t>Arquitetura interativa em Dash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801368"/>
            <a:ext cx="4882896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Dash(__name__, external_stylesheets=[dbc.themes.BOOTSTRAP])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@app.callback(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Output('conteudo-dashboard', 'children'),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Input('tabs', 'value'),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Input('filtro-ano', 'value'),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Input('filtro-uf', 'value'),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Input('filtro-clima', 'value'),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Input('filtro-fase', 'value'),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Input('filtro-tipo', 'value')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10149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separa preparação analítica e interação visual, permitindo que os filtros atualizem os gráficos sem reescrever o pipeline.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Planejamento das visões analíticas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</a:rPr>
              <a:t>Dashboard Executivo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44805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KPIs nacionais e leitura rápida.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Evolução temporal e comparação anual.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Rankings de UFs, causas e gravidade.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Indicado para síntese gerencial.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</a:rPr>
              <a:t>Dashboard Exploratório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1901952"/>
            <a:ext cx="44805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Filtros por ano, região, UF, clima, fase do dia e tipo.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Análise por BR, causa e condição de pista.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Heatmap e matriz volume x letalidade.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Indicado para investigação analítica.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0" cy="384048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60120" y="5399531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combinação das duas visões evita tanto a simplificação excessiva quanto a sobrecarga informacional.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TEMPORAIS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Evolução mensal dos acidentes por ano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1_evolucao_men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2911"/>
            <a:ext cx="11201400" cy="33035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 o comportamento mensal entre 2024, 2025 e 2026.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Permite observar oscilações e possíveis sazonalidades.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leitura de 2026 deve considerar o recorte até abril.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mensal revela padrões de variação ao longo do ano e prepara a comparação temporal justa.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TEMPORAIS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anual de acidentes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32938" y="4892039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2024 e 2025 são anos completos.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2026 aparece menor por ser parcial.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comparação direta anual pode induzir erro interpretativo</a:t>
            </a: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conclusão correta depende da observação explícita do período coberto por cada ano.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1AE6D26-1AAC-A3F4-CD0B-F9EA3FF63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38" y="1212209"/>
            <a:ext cx="11217102" cy="32914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TEMPORAIS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equivalente: janeiro a abril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3_comparacao_jan_a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1274"/>
            <a:ext cx="11201400" cy="32868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 o mesmo intervalo para os três anos.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a distorção do ano parcial.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Permite avaliar 2026 de forma mais justa</a:t>
            </a: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recorte Jan–Abr transforma uma comparação enviesada em uma comparação metodologicamente válida.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GEOGRÁFICOS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UFs por volume de acidentes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4_top_ufs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5362"/>
            <a:ext cx="11201400" cy="32786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MG aparece como UF com maior volume absoluto.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Estados com malha e tráfego maiores tendem a concentrar ocorrências.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Volume não deve ser confundido com letalidade.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concentração territorial mostra onde há mais ocorrências, mas não necessariamente onde o risco é maior.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GEOGRÁFICOS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Letalidade por região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5_letalidade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7630"/>
            <a:ext cx="11201400" cy="32941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métrica é mortos a cada 1.000 acidentes.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 gravidade relativa entre macrorregiões.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Diferenças podem refletir infraestrutura, socorro e perfil viário.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regional evidencia desigualdades de gravidade que a contagem absoluta não revela.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GEOGRÁFICOS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 de UFs por risco proporcional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6_ufs_risco_proporc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0078"/>
            <a:ext cx="11201400" cy="32692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Mede óbitos por 1.000 acidentes.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Destaca UFs onde o acidente tende a ser mais letal.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Complementa o ranking de volume absoluto.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UFs com menor volume podem apresentar risco proporcional mais alto e exigir atenção específica.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GEOGRÁFICOS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volume x gravidade por UF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7_matriz_u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9625"/>
            <a:ext cx="11201400" cy="32701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Eixo horizontal: volume de acidentes.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Eixo vertical: mortos a cada 1.000 acidentes.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Bolhas ajudam a localizar estados críticos por escala e severidade.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matriz separa quatro perfis: alto volume, alto risco, ambos ou nenhum.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FATORES HUMANOS E CAUSAIS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causas registradas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8_principais_caus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6430"/>
            <a:ext cx="11201400" cy="32765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causas mais frequentes têm forte componente comportamental.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ausência de reação do condutor lidera a base tratada.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Causas recorrentes orientam ações preventivas e fiscalização.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fator humano aparece como dimensão dominante na frequência dos sinistros.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FATORES TEMPORAIS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Letalidade por fase do dia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09_letalidade_fase_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0078"/>
            <a:ext cx="11201400" cy="32692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 gravidade proporcional por período de luminosidade.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Fases com baixa visibilidade tendem a elevar risco.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Relaciona-se a fadiga, percepção e velocidade.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gravidade não se distribui de forma homogênea ao longo do dia.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FATORES TEMPORAIS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Letalidade: dias úteis x fim de semana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10_letalidade_fim_sem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46"/>
            <a:ext cx="11201400" cy="32734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 padrões de circulação distintos.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Fim de semana pode envolver viagens mais longas e lazer.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Taxa proporcional evita leitura baseada só no volume.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tipo de deslocamento pode alterar o perfil de risco, mesmo quando o volume muda.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FATORES AMBIENTAIS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Letalidade por condição meteorológica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11_letalidade_cl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7415"/>
            <a:ext cx="11201400" cy="32945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8619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Mede risco proporcional em condições climáticas diferentes.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Neblina/nevoeiro e baixa visibilidade exigem atenção analítica.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Clima altera frenagem, visibilidade e controle do veículo.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Condições meteorológicas não causam acidentes isoladamente, mas modulam o contexto de risco.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FATORES TEMPORAIS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Heatmap de acidentes por dia e horário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12_heatmap_dia_h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5484"/>
            <a:ext cx="11201400" cy="32983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zonas de maior intensidade indicam janelas críticas de tráfego, fadiga ou deslocamento pendular.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zonas de maior intensidade indicam janelas críticas de tráfego, fadiga ou deslocamento pendular.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RODOVIAS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BRs por volume de acidentes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13_top_brs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1274"/>
            <a:ext cx="11201400" cy="32868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BR-101 lidera em volume absoluto.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Rodovias extensas e logísticas tendem a concentrar sinistros.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Volume ajuda a priorizar monitoramento operacional.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ranking de BRs mostra os corredores com maior escala de ocorrências.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RODOVIAS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BRs por letalidade proporcional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14_top_brs_leta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0204"/>
            <a:ext cx="11201400" cy="32889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Aplica mínimo de 300 acidentes para reduzir distorções.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Mede mortos por 1.000 acidentes em cada BR.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Destaca rodovias onde o sinistro é proporcionalmente mais grave.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filtro mínimo protege a análise contra taxas artificiais geradas por poucos registros.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SEVERIDADE AGREGADA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causas por classificação de gravidade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rf_charts/grafico_15_causas_grav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2675"/>
            <a:ext cx="11201400" cy="33040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96112" y="5047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Leitura crítica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5303520"/>
            <a:ext cx="6492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Cruza causa e categoria de gravidade.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Permite comparar composição dos acidentes por desfecho.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Evidencia que frequência e severidade não são sinônimos.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504748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028432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causa pode ter grande volume, mas composições distintas de gravidade.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 integrada dos principais achados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Tempo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2026 exige comparação equivalente; Jan–Abr é o recorte metodologicamente adequado.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Território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Volume absoluto e letalidade proporcional apontam prioridades diferentes.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Comportamento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697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Causas associadas à atenção/reação aparecem com grande recorrência.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Ambiente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Noite, fim de semana e clima adverso alteram o contexto de risco.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Rodovias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40690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BRs de alto volume e BRs de alta letalidade não devem ser tratadas como o mesmo fenômeno.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512064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34440" y="532180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Resultado central: o dashboard transforma microdados públicos em leitura multidimensional de segurança viária.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metodológicas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014984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arquivo de 2026 é parcial e cobre apenas o período de 01/01 a 30/04.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base representa ocorrências registradas pela PRF, sujeitas à qualidade do preenchimento original.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é descritiva e exploratória; não estima causalidade nem previsão futura.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Taxas proporcionais ajudam a comparar recortes, mas não substituem modelos estatísticos controlados por exposição viária.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Algumas variáveis categóricas podem conter heterogeneidade semântica residual mesmo após padronização.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498348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34440" y="519379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DC2626"/>
                </a:solidFill>
              </a:rPr>
              <a:t>Rigor científico também envolve reconhecer onde os dados não autorizam conclusões definitivas.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6A6"/>
                </a:solidFill>
              </a:rPr>
              <a:t>SÍNTESE DOS INSIGHTS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Principais achados da análise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</a:rPr>
              <a:t>Os resultados indicam que volume absoluto e risco proporcional contam histórias diferentes.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Dashboard Interativo de Acidentes PRF • Ciência de Dados com Dash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</a:rPr>
              <a:t>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2412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dirty="0">
                <a:solidFill>
                  <a:srgbClr val="4B5563"/>
                </a:solidFill>
              </a:rPr>
              <a:t>2026 deve ser comparado com cautela, pois está parcial até abril; por isso foi criado o recorte Jan–Abr.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MG lidera em volume absoluto, mas MA e PA se destacam por risco proporcional mais alto.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Finais de semana, amanhecer e plena noite apresentam maior severidade proporcional.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Nevoeiro/neblina apresenta elevada letalidade proporcional, apesar de não ser a condição mais frequente.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BRs com maior volume não são necessariamente as BRs com maior letalidade.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Fatores comportamentais aparecem com grande frequência entre as causas registradas.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22960" y="5440680"/>
            <a:ext cx="10424160" cy="777240"/>
          </a:xfrm>
          <a:prstGeom prst="roundRect">
            <a:avLst>
              <a:gd name="adj" fmla="val 5882"/>
            </a:avLst>
          </a:prstGeom>
          <a:solidFill>
            <a:srgbClr val="F6FAFD"/>
          </a:solidFill>
          <a:ln w="10160">
            <a:solidFill>
              <a:srgbClr val="D5E4EF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73152" cy="777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1" name="Text 9"/>
          <p:cNvSpPr/>
          <p:nvPr/>
        </p:nvSpPr>
        <p:spPr>
          <a:xfrm>
            <a:off x="1024128" y="5532120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interpretação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5715000"/>
            <a:ext cx="10040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02A43"/>
                </a:solidFill>
              </a:rPr>
              <a:t>A principal contribuição do projeto foi transformar dados públicos em uma leitura analítica orientada por risco, severidade e comparação temporal justa.</a:t>
            </a:r>
            <a:endParaRPr lang="en-US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935ABF8F-6EE2-8724-FCD3-976452CABA34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6A6"/>
                </a:solidFill>
              </a:rPr>
              <a:t>CONCLUSÃO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</a:rPr>
              <a:t>Do pipeline ao dashboard: comunicação dos resultados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</a:rPr>
              <a:t>O projeto atende ao ciclo completo de ciência de dados proposto para a atividade.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Dashboard Interativo de Acidentes PRF • Ciência de Dados com Dash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dirty="0">
                <a:solidFill>
                  <a:srgbClr val="4B5563"/>
                </a:solidFill>
              </a:rPr>
              <a:t>A base pública da PRF foi escolhida por relevância social, volume e riqueza de variáveis.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Os dados originais foram caracterizados, integrados e tratados antes da análise.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Foram criadas variáveis analíticas para ampliar a interpretação: gravidade, letalidade, fim de semana, período e região.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Os dashboards foram organizados para comunicar primeiro a visão geral e depois permitir exploração interativa.</a:t>
            </a:r>
            <a:endParaRPr lang="en-US" dirty="0"/>
          </a:p>
          <a:p>
            <a:r>
              <a:rPr lang="en-US" dirty="0">
                <a:solidFill>
                  <a:srgbClr val="4B5563"/>
                </a:solidFill>
              </a:rPr>
              <a:t>Os insights mostram que a análise de acidentes deve considerar volume, contexto e severidade proporcional.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22960" y="516636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889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932688" y="5266944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PIPELINE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5422392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563E9"/>
                </a:solidFill>
              </a:rPr>
              <a:t>completo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56875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aquisição, integração, tratamento e análise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516636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889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4178808" y="5266944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DASHBOARDS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78808" y="5422392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A6A6"/>
                </a:solidFill>
              </a:rPr>
              <a:t>2 painéis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78808" y="56875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executivo e exploratório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516636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889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8" name="Text 16"/>
          <p:cNvSpPr/>
          <p:nvPr/>
        </p:nvSpPr>
        <p:spPr>
          <a:xfrm>
            <a:off x="7424928" y="5266944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RESULTADO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24928" y="5422392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insights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24928" y="56875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com interpretação acadêmica</a:t>
            </a:r>
            <a:endParaRPr lang="en-US" sz="10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097822EB-6012-D5A8-72CB-32F57D0C2408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 e contribuições do projeto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23544" y="15544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Pipeline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23544" y="1947672"/>
            <a:ext cx="281635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dados brutos → base tratada → dashboards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72584" y="15544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7316"/>
                </a:solidFill>
              </a:rPr>
              <a:t>Método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672584" y="1947672"/>
            <a:ext cx="281635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limpeza, integração e variáveis derivadas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21624" y="15544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A34A"/>
                </a:solidFill>
              </a:rPr>
              <a:t>Evidência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421624" y="1947672"/>
            <a:ext cx="281635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interpretação de 15 gráficos principais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101955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trabalho estruturou um fluxo completo de Ciência de Dados com dados oficiais da PRF.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base foi limpa, integrada e enriquecida com variáveis de letalidade, gravidade, região e tempo.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 dashboards permitem analisar acidentes por dimensões temporais, territoriais, humanas, ambientais e rodoviárias.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contribuição principal está em transformar microdados públicos em conhecimento visual, crítico e metodologicamente defensável.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 PRF 2024–2026 | Ciência de Dados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Obrigado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3C5FD"/>
                </a:solidFill>
              </a:rPr>
              <a:t>Perguntas da banca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47472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7680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Dashboard Interativo de Análise de Dados: Acidentes em Rodovias Federais — PRF 2024–2026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5166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Grupo 3 • Python • Pandas • Plotly • Dash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3911</Words>
  <Application>Microsoft Office PowerPoint</Application>
  <PresentationFormat>Widescreen</PresentationFormat>
  <Paragraphs>512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Consolas</vt:lpstr>
      <vt:lpstr>Inter</vt:lpstr>
      <vt:lpstr>Inter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Interativo de Análise de Dados: Acidentes em Rodovias Federais (PRF 2024-2026)</dc:title>
  <dc:subject>Dashboard Interativo de Análise de Dados: Acidentes em Rodovias Federais (PRF 2024-2026)</dc:subject>
  <dc:creator>Grupo 3 - Ciência de Dados PRF</dc:creator>
  <cp:lastModifiedBy>MATHEUS CARRIERO</cp:lastModifiedBy>
  <cp:revision>4</cp:revision>
  <dcterms:created xsi:type="dcterms:W3CDTF">2026-06-03T20:38:59Z</dcterms:created>
  <dcterms:modified xsi:type="dcterms:W3CDTF">2026-06-03T21:15:39Z</dcterms:modified>
</cp:coreProperties>
</file>